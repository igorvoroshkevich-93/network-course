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70" r:id="rId11"/>
    <p:sldId id="263" r:id="rId12"/>
    <p:sldId id="272" r:id="rId13"/>
    <p:sldId id="267" r:id="rId14"/>
    <p:sldId id="273" r:id="rId15"/>
    <p:sldId id="271" r:id="rId16"/>
    <p:sldId id="274" r:id="rId17"/>
    <p:sldId id="265" r:id="rId18"/>
    <p:sldId id="266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6284A0-B14C-4C2D-B731-6C7B5FDCEEF5}">
  <a:tblStyle styleId="{E96284A0-B14C-4C2D-B731-6C7B5FDCEE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7" d="100"/>
          <a:sy n="207" d="100"/>
        </p:scale>
        <p:origin x="460" y="116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7f5ce68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7f5ce68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4629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191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405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7f5ce68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7f5ce68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Дизайн сетей ЦОД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>
              <a:buSzPts val="1100"/>
            </a:pPr>
            <a:r>
              <a:rPr lang="ru" sz="3000" dirty="0"/>
              <a:t>Тема: </a:t>
            </a:r>
            <a:r>
              <a:rPr lang="ru-RU" sz="2000" dirty="0"/>
              <a:t>Переход от классической трехзвенной архитектуры к полноценной </a:t>
            </a:r>
            <a:r>
              <a:rPr lang="ru-RU" sz="2000" dirty="0" err="1"/>
              <a:t>VxLan</a:t>
            </a:r>
            <a:r>
              <a:rPr lang="ru-RU" sz="2000" dirty="0"/>
              <a:t>-фабрике с </a:t>
            </a:r>
            <a:r>
              <a:rPr lang="ru-RU" sz="2000" dirty="0" err="1"/>
              <a:t>multisite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1100" b="1" i="0" dirty="0">
                <a:solidFill>
                  <a:srgbClr val="1F2328"/>
                </a:solidFill>
                <a:effectLst/>
                <a:latin typeface="-apple-system"/>
              </a:rPr>
              <a:t/>
            </a:r>
            <a:br>
              <a:rPr lang="ru-RU" sz="1100" b="1" i="0" dirty="0">
                <a:solidFill>
                  <a:srgbClr val="1F2328"/>
                </a:solidFill>
                <a:effectLst/>
                <a:latin typeface="-apple-system"/>
              </a:rPr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8"/>
          <p:cNvSpPr txBox="1"/>
          <p:nvPr/>
        </p:nvSpPr>
        <p:spPr>
          <a:xfrm>
            <a:off x="3123850" y="2716325"/>
            <a:ext cx="58563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smtClean="0">
                <a:latin typeface="Roboto"/>
                <a:ea typeface="Roboto"/>
                <a:cs typeface="Roboto"/>
                <a:sym typeface="Roboto"/>
              </a:rPr>
              <a:t>Ворошкевич Игорь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23850" y="3279300"/>
            <a:ext cx="5856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Ведущий сетевой инженер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Roboto"/>
                <a:ea typeface="Roboto"/>
                <a:cs typeface="Roboto"/>
                <a:sym typeface="Roboto"/>
              </a:rPr>
              <a:t>ООО </a:t>
            </a:r>
            <a:r>
              <a:rPr lang="ru" dirty="0" smtClean="0">
                <a:latin typeface="Roboto"/>
                <a:ea typeface="Roboto"/>
                <a:cs typeface="Roboto"/>
                <a:sym typeface="Roboto"/>
              </a:rPr>
              <a:t>«Белорусские облачные технологии»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План защиты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787125" y="2372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Используемые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технологии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786525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sz="13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Схемы/</a:t>
            </a:r>
            <a: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-RU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</a:t>
            </a:r>
            <a:r>
              <a:rPr lang="ru-RU" sz="13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получилось</a:t>
            </a:r>
            <a:endParaRPr lang="ru-RU"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name="adj1" fmla="val 397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9"/>
          <p:cNvCxnSpPr>
            <a:stCxn id="95" idx="1"/>
            <a:endCxn id="96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9"/>
          <p:cNvCxnSpPr>
            <a:stCxn id="96" idx="1"/>
            <a:endCxn id="97" idx="1"/>
          </p:cNvCxnSpPr>
          <p:nvPr/>
        </p:nvCxnSpPr>
        <p:spPr>
          <a:xfrm>
            <a:off x="786525" y="3714200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проекта</a:t>
            </a:r>
            <a:endParaRPr/>
          </a:p>
        </p:txBody>
      </p:sp>
      <p:graphicFrame>
        <p:nvGraphicFramePr>
          <p:cNvPr id="108" name="Google Shape;108;p20"/>
          <p:cNvGraphicFramePr/>
          <p:nvPr>
            <p:extLst>
              <p:ext uri="{D42A27DB-BD31-4B8C-83A1-F6EECF244321}">
                <p14:modId xmlns:p14="http://schemas.microsoft.com/office/powerpoint/2010/main" val="3388197933"/>
              </p:ext>
            </p:extLst>
          </p:nvPr>
        </p:nvGraphicFramePr>
        <p:xfrm>
          <a:off x="874256" y="1343472"/>
          <a:ext cx="7268179" cy="1264701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91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6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Спроектировать сети по топологии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CLOS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Распределить 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адресные пулы адресов для 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underlay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overlay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уровней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Построение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отказоустойчивой масштабируемой 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сети, спланировать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переход от старой архитектуры к новой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323268"/>
              </p:ext>
            </p:extLst>
          </p:nvPr>
        </p:nvGraphicFramePr>
        <p:xfrm>
          <a:off x="874256" y="2608173"/>
          <a:ext cx="7268179" cy="361623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91398">
                  <a:extLst>
                    <a:ext uri="{9D8B030D-6E8A-4147-A177-3AD203B41FA5}">
                      <a16:colId xmlns:a16="http://schemas.microsoft.com/office/drawing/2014/main" val="2930886640"/>
                    </a:ext>
                  </a:extLst>
                </a:gridCol>
                <a:gridCol w="6776781">
                  <a:extLst>
                    <a:ext uri="{9D8B030D-6E8A-4147-A177-3AD203B41FA5}">
                      <a16:colId xmlns:a16="http://schemas.microsoft.com/office/drawing/2014/main" val="2236070888"/>
                    </a:ext>
                  </a:extLst>
                </a:gridCol>
              </a:tblGrid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 smtClean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ru"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Использовать по максимуму все технологии освоенные в курсе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lang="ru-RU" sz="13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334004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219110"/>
              </p:ext>
            </p:extLst>
          </p:nvPr>
        </p:nvGraphicFramePr>
        <p:xfrm>
          <a:off x="874256" y="2973161"/>
          <a:ext cx="7268179" cy="606987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91398">
                  <a:extLst>
                    <a:ext uri="{9D8B030D-6E8A-4147-A177-3AD203B41FA5}">
                      <a16:colId xmlns:a16="http://schemas.microsoft.com/office/drawing/2014/main" val="2930886640"/>
                    </a:ext>
                  </a:extLst>
                </a:gridCol>
                <a:gridCol w="6776781">
                  <a:extLst>
                    <a:ext uri="{9D8B030D-6E8A-4147-A177-3AD203B41FA5}">
                      <a16:colId xmlns:a16="http://schemas.microsoft.com/office/drawing/2014/main" val="2236070888"/>
                    </a:ext>
                  </a:extLst>
                </a:gridCol>
              </a:tblGrid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300" b="1" dirty="0" smtClean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ru"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Закрепить на практике и в плане проектирования АБСОЛЮТНО все   полученные знания</a:t>
                      </a:r>
                      <a:endParaRPr lang="ru-RU" sz="13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334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522853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Что планировалось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5" name="Google Shape;115;p21"/>
          <p:cNvGraphicFramePr/>
          <p:nvPr>
            <p:extLst>
              <p:ext uri="{D42A27DB-BD31-4B8C-83A1-F6EECF244321}">
                <p14:modId xmlns:p14="http://schemas.microsoft.com/office/powerpoint/2010/main" val="2789639941"/>
              </p:ext>
            </p:extLst>
          </p:nvPr>
        </p:nvGraphicFramePr>
        <p:xfrm>
          <a:off x="952500" y="1544194"/>
          <a:ext cx="7239000" cy="1036863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подключение серверов к 2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резервирования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Поместить клиентов 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как в разные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так и связать по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L2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маршрутизацию между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POD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ами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398821"/>
              </p:ext>
            </p:extLst>
          </p:nvPr>
        </p:nvGraphicFramePr>
        <p:xfrm>
          <a:off x="952500" y="2581057"/>
          <a:ext cx="7239000" cy="345621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3582027046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98756987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 smtClean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 smtClean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Спланировать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переход от старого к новому</a:t>
                      </a:r>
                      <a:endParaRPr lang="en-US" sz="13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961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Используемые технологии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567265460"/>
              </p:ext>
            </p:extLst>
          </p:nvPr>
        </p:nvGraphicFramePr>
        <p:xfrm>
          <a:off x="952500" y="1544194"/>
          <a:ext cx="7239000" cy="1421218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MLAG,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ESI-LAG,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LACP, STP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VXLAN, VLAN, VRF 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EVPN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OSPF, </a:t>
                      </a:r>
                      <a:r>
                        <a:rPr lang="en-US" sz="13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iBGP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3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eBGP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</a:t>
            </a:r>
            <a:r>
              <a:rPr lang="ru-RU" sz="3000" dirty="0" smtClean="0"/>
              <a:t>а</a:t>
            </a:r>
            <a:r>
              <a:rPr lang="en-US" sz="3000" dirty="0" smtClean="0"/>
              <a:t> </a:t>
            </a:r>
            <a:r>
              <a:rPr lang="ru-RU" sz="3000" dirty="0" smtClean="0"/>
              <a:t>старой сети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00" y="1144879"/>
            <a:ext cx="8157138" cy="32246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</a:t>
            </a:r>
            <a:r>
              <a:rPr lang="ru-RU" sz="3000" dirty="0" smtClean="0"/>
              <a:t>а новой сети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85" y="957648"/>
            <a:ext cx="7376568" cy="377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01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</a:t>
            </a:r>
            <a:r>
              <a:rPr lang="ru-RU" sz="3000" dirty="0" smtClean="0"/>
              <a:t>а лабораторного стенда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86" y="912798"/>
            <a:ext cx="7861385" cy="388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59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130" name="Google Shape;130;p23"/>
          <p:cNvSpPr txBox="1"/>
          <p:nvPr/>
        </p:nvSpPr>
        <p:spPr>
          <a:xfrm>
            <a:off x="552674" y="1264350"/>
            <a:ext cx="8468475" cy="367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n-US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ru-RU" dirty="0" err="1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ервер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а</a:t>
            </a:r>
            <a:r>
              <a:rPr lang="ru-RU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подключен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ы</a:t>
            </a:r>
            <a:r>
              <a:rPr lang="ru-RU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 2 </a:t>
            </a: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leaf </a:t>
            </a: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 помощи технологий </a:t>
            </a:r>
            <a:r>
              <a:rPr lang="en-US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MLAG</a:t>
            </a:r>
            <a:r>
              <a:rPr lang="ru-RU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ESI-LAG)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LACP.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0" y="1647117"/>
            <a:ext cx="4398384" cy="254474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219" y="1647117"/>
            <a:ext cx="3676629" cy="29670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sp>
        <p:nvSpPr>
          <p:cNvPr id="130" name="Google Shape;130;p23"/>
          <p:cNvSpPr txBox="1"/>
          <p:nvPr/>
        </p:nvSpPr>
        <p:spPr>
          <a:xfrm>
            <a:off x="552674" y="1264350"/>
            <a:ext cx="8468475" cy="367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n-US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ru-RU" dirty="0" err="1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ервер</a:t>
            </a:r>
            <a:r>
              <a:rPr lang="ru-RU" dirty="0" err="1">
                <a:latin typeface="Roboto"/>
                <a:ea typeface="Roboto"/>
                <a:cs typeface="Roboto"/>
                <a:sym typeface="Roboto"/>
              </a:rPr>
              <a:t>а</a:t>
            </a:r>
            <a:r>
              <a:rPr lang="ru-RU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подключен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ы</a:t>
            </a:r>
            <a:r>
              <a:rPr lang="ru-RU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 2 </a:t>
            </a:r>
            <a:r>
              <a:rPr lang="en-US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leaf </a:t>
            </a:r>
            <a:r>
              <a:rPr lang="ru-RU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 помощи технологий </a:t>
            </a:r>
            <a:r>
              <a:rPr lang="en-US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MLAG</a:t>
            </a:r>
            <a:r>
              <a:rPr lang="ru-RU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-US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ESI-LAG)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LACP.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970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73" y="1658826"/>
            <a:ext cx="3870209" cy="144445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594" y="1658826"/>
            <a:ext cx="4011457" cy="295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06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FA2D2-C05F-457C-A4A5-7D5CC044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sz="3200" dirty="0"/>
              <a:t>Что получилось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6D77D-5B3F-477E-BFA1-F00E4D635C6D}"/>
              </a:ext>
            </a:extLst>
          </p:cNvPr>
          <p:cNvSpPr txBox="1"/>
          <p:nvPr/>
        </p:nvSpPr>
        <p:spPr>
          <a:xfrm>
            <a:off x="604395" y="1025911"/>
            <a:ext cx="6919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</a:t>
            </a:r>
            <a:r>
              <a:rPr lang="ru-RU" dirty="0" smtClean="0"/>
              <a:t>Каждый клиент в своем </a:t>
            </a:r>
            <a:r>
              <a:rPr lang="en-US" dirty="0" smtClean="0"/>
              <a:t>VRF </a:t>
            </a:r>
            <a:r>
              <a:rPr lang="ru-RU" dirty="0" smtClean="0"/>
              <a:t>внутри </a:t>
            </a:r>
            <a:r>
              <a:rPr lang="en-US" dirty="0" smtClean="0"/>
              <a:t>Site, </a:t>
            </a:r>
            <a:r>
              <a:rPr lang="ru-RU" dirty="0" smtClean="0"/>
              <a:t>Обмен и связность между </a:t>
            </a:r>
            <a:r>
              <a:rPr lang="en-US" dirty="0" smtClean="0"/>
              <a:t>Site </a:t>
            </a:r>
            <a:r>
              <a:rPr lang="ru-RU" dirty="0" smtClean="0"/>
              <a:t>по </a:t>
            </a:r>
            <a:r>
              <a:rPr lang="en-US" dirty="0" smtClean="0"/>
              <a:t>L3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45" y="1333687"/>
            <a:ext cx="7631762" cy="206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46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FA2D2-C05F-457C-A4A5-7D5CC044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sz="3200" dirty="0"/>
              <a:t>Что получилось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6D77D-5B3F-477E-BFA1-F00E4D635C6D}"/>
              </a:ext>
            </a:extLst>
          </p:cNvPr>
          <p:cNvSpPr txBox="1"/>
          <p:nvPr/>
        </p:nvSpPr>
        <p:spPr>
          <a:xfrm>
            <a:off x="604395" y="1025911"/>
            <a:ext cx="6919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</a:t>
            </a:r>
            <a:r>
              <a:rPr lang="ru-RU" dirty="0" smtClean="0"/>
              <a:t>Каждый клиент в своем </a:t>
            </a:r>
            <a:r>
              <a:rPr lang="en-US" dirty="0" smtClean="0"/>
              <a:t>VRF </a:t>
            </a:r>
            <a:r>
              <a:rPr lang="ru-RU" dirty="0" smtClean="0"/>
              <a:t>внутри </a:t>
            </a:r>
            <a:r>
              <a:rPr lang="en-US" dirty="0" smtClean="0"/>
              <a:t>Site, </a:t>
            </a:r>
            <a:r>
              <a:rPr lang="ru-RU" dirty="0" smtClean="0"/>
              <a:t>Обмен и связность между </a:t>
            </a:r>
            <a:r>
              <a:rPr lang="en-US" dirty="0" smtClean="0"/>
              <a:t>Site </a:t>
            </a:r>
            <a:r>
              <a:rPr lang="ru-RU" dirty="0" smtClean="0"/>
              <a:t>по </a:t>
            </a:r>
            <a:r>
              <a:rPr lang="en-US" dirty="0" smtClean="0"/>
              <a:t>L3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58" y="1333688"/>
            <a:ext cx="4982586" cy="305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3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FA2D2-C05F-457C-A4A5-7D5CC044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sz="3200" dirty="0"/>
              <a:t>Что получилось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6D77D-5B3F-477E-BFA1-F00E4D635C6D}"/>
              </a:ext>
            </a:extLst>
          </p:cNvPr>
          <p:cNvSpPr txBox="1"/>
          <p:nvPr/>
        </p:nvSpPr>
        <p:spPr>
          <a:xfrm>
            <a:off x="604395" y="1025911"/>
            <a:ext cx="6919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</a:t>
            </a:r>
            <a:r>
              <a:rPr lang="ru-RU" dirty="0" smtClean="0"/>
              <a:t>Все клиенты могут быть связаны по </a:t>
            </a:r>
            <a:r>
              <a:rPr lang="en-US" dirty="0" smtClean="0"/>
              <a:t>L2 </a:t>
            </a:r>
            <a:r>
              <a:rPr lang="ru-RU" dirty="0" smtClean="0"/>
              <a:t>между всеми</a:t>
            </a:r>
            <a:r>
              <a:rPr lang="ru-RU" dirty="0" smtClean="0"/>
              <a:t> </a:t>
            </a:r>
            <a:r>
              <a:rPr lang="en-US" dirty="0" smtClean="0"/>
              <a:t>Site’s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95" y="1333688"/>
            <a:ext cx="6197919" cy="35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96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FA2D2-C05F-457C-A4A5-7D5CC044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sz="3200" dirty="0"/>
              <a:t>Что получилось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6D77D-5B3F-477E-BFA1-F00E4D635C6D}"/>
              </a:ext>
            </a:extLst>
          </p:cNvPr>
          <p:cNvSpPr txBox="1"/>
          <p:nvPr/>
        </p:nvSpPr>
        <p:spPr>
          <a:xfrm>
            <a:off x="604395" y="1025911"/>
            <a:ext cx="69194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. </a:t>
            </a:r>
            <a:r>
              <a:rPr lang="ru-RU" dirty="0" smtClean="0"/>
              <a:t>Все клиенты могут быть связаны по </a:t>
            </a:r>
            <a:r>
              <a:rPr lang="en-US" dirty="0" smtClean="0"/>
              <a:t>L2 </a:t>
            </a:r>
            <a:r>
              <a:rPr lang="ru-RU" dirty="0" smtClean="0"/>
              <a:t>между всеми</a:t>
            </a:r>
            <a:r>
              <a:rPr lang="ru-RU" dirty="0" smtClean="0"/>
              <a:t> </a:t>
            </a:r>
            <a:r>
              <a:rPr lang="en-US" dirty="0" smtClean="0"/>
              <a:t>Site’s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89" y="1299935"/>
            <a:ext cx="5854223" cy="340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40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Выводы и планы по развитию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2" name="Google Shape;142;p25"/>
          <p:cNvGraphicFramePr/>
          <p:nvPr>
            <p:extLst>
              <p:ext uri="{D42A27DB-BD31-4B8C-83A1-F6EECF244321}">
                <p14:modId xmlns:p14="http://schemas.microsoft.com/office/powerpoint/2010/main" val="2821575735"/>
              </p:ext>
            </p:extLst>
          </p:nvPr>
        </p:nvGraphicFramePr>
        <p:xfrm>
          <a:off x="937158" y="1093131"/>
          <a:ext cx="7239000" cy="3433026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Получилось организовать отказоустойчивость как на подключения к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так и  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маршрутизации, полная связность между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всему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Site’s 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L2 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L3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 Разработан план перехода от </a:t>
                      </a:r>
                      <a:r>
                        <a:rPr lang="ru-RU" sz="13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трехзвенчатой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модели к полноценной </a:t>
                      </a:r>
                      <a:r>
                        <a:rPr lang="en-US" sz="13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-фабрике с сохранением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IP-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адресации.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лабораторной не получилось корректно проверить переключение линка на сервере при отключении одного из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происходит с сильной задержкой, ресурсоемкая очень, так же есть проблемы с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BFD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(на </a:t>
                      </a:r>
                      <a:r>
                        <a:rPr lang="ru-RU" sz="13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проде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его стоит использовать, лабораторная сразу рассыпается)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 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Конфигурация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Spine 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DCI 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сделала так, чтобы было легко масштабировать с минимальным влиянием на всю инфраструктуру(Увеличение количества для резерва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N+1)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Требуется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либо добавить еще один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Site 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стыков с провайдером и организацией трафика через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FW, 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либо использовать один из </a:t>
                      </a:r>
                      <a:r>
                        <a:rPr lang="en-US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Site 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 эти же цели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/>
              <a:t>Спасибо за внимание!</a:t>
            </a:r>
            <a:r>
              <a:rPr lang="ru" sz="5000" b="0"/>
              <a:t/>
            </a:r>
            <a:br>
              <a:rPr lang="ru" sz="5000" b="0"/>
            </a:b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431</Words>
  <Application>Microsoft Office PowerPoint</Application>
  <PresentationFormat>Экран (16:9)</PresentationFormat>
  <Paragraphs>74</Paragraphs>
  <Slides>18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-apple-system</vt:lpstr>
      <vt:lpstr>Arial</vt:lpstr>
      <vt:lpstr>Courier New</vt:lpstr>
      <vt:lpstr>Roboto</vt:lpstr>
      <vt:lpstr>Светлая тема</vt:lpstr>
      <vt:lpstr>Дизайн сетей ЦОД </vt:lpstr>
      <vt:lpstr>Меня хорошо видно &amp; слышно?</vt:lpstr>
      <vt:lpstr>Защита проекта Тема: Переход от классической трехзвенной архитектуры к полноценной VxLan-фабрике с multisite    </vt:lpstr>
      <vt:lpstr>План защиты </vt:lpstr>
      <vt:lpstr>Цели проекта</vt:lpstr>
      <vt:lpstr>Что планировалось </vt:lpstr>
      <vt:lpstr>Используемые технологии  </vt:lpstr>
      <vt:lpstr>Схема старой сети   </vt:lpstr>
      <vt:lpstr>Схема новой сети   </vt:lpstr>
      <vt:lpstr>Схема лабораторного стенда   </vt:lpstr>
      <vt:lpstr>Что получилось</vt:lpstr>
      <vt:lpstr>Что получилось</vt:lpstr>
      <vt:lpstr>Что получилось</vt:lpstr>
      <vt:lpstr>Что получилось</vt:lpstr>
      <vt:lpstr>Что получилось</vt:lpstr>
      <vt:lpstr>Что получилось</vt:lpstr>
      <vt:lpstr>Выводы и планы по развитию   </vt:lpstr>
      <vt:lpstr>Спасибо за внимание!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</dc:title>
  <dc:creator>Ворошкевич И.А</dc:creator>
  <cp:lastModifiedBy>Ворошкевич Игорь Анатольевич</cp:lastModifiedBy>
  <cp:revision>16</cp:revision>
  <dcterms:modified xsi:type="dcterms:W3CDTF">2025-11-05T08:37:38Z</dcterms:modified>
</cp:coreProperties>
</file>